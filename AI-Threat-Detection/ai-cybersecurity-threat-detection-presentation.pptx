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83019" autoAdjust="0"/>
  </p:normalViewPr>
  <p:slideViewPr>
    <p:cSldViewPr snapToGrid="0">
      <p:cViewPr varScale="1">
        <p:scale>
          <a:sx n="76" d="100"/>
          <a:sy n="76" d="100"/>
        </p:scale>
        <p:origin x="11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1EBDB3-A9E1-4B12-BC6D-CEE0493A7A0A}" type="datetimeFigureOut">
              <a:rPr lang="en-US" smtClean="0"/>
              <a:t>6/19/2026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6A6453-E32A-4C8D-AFB6-10E976858B49}" type="slidenum">
              <a:rPr lang="en-US" smtClean="0"/>
              <a:t>‹#›</a:t>
            </a:fld>
            <a:endParaRPr lang="en-US"/>
          </a:p>
        </p:txBody>
      </p:sp>
    </p:spTree>
    <p:extLst>
      <p:ext uri="{BB962C8B-B14F-4D97-AF65-F5344CB8AC3E}">
        <p14:creationId xmlns:p14="http://schemas.microsoft.com/office/powerpoint/2010/main" val="921457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presentation explores how artificial intelligence is transforming cybersecurity into a faster, smarter, and more proactive defense system. As cyber threats become more advanced, AI is no longer optional, it is becoming essential. I will walk through how AI works in cybersecurity, real-world applications, leading technologies, and what the future looks like.</a:t>
            </a:r>
          </a:p>
          <a:p>
            <a:endParaRPr lang="en-US" dirty="0" smtClean="0"/>
          </a:p>
          <a:p>
            <a:endParaRPr lang="en-US" dirty="0" smtClean="0"/>
          </a:p>
          <a:p>
            <a:r>
              <a:rPr lang="en-US" dirty="0" smtClean="0"/>
              <a:t>This slide introduces the overall theme of the presentation, focusing on how AI is transforming cybersecurity. It sets the stage for the discussion and highlights the importance of AI in modern digital defense. The visuals reinforce the idea of protection and security.</a:t>
            </a:r>
            <a:endParaRPr lang="en-US" dirty="0"/>
          </a:p>
        </p:txBody>
      </p:sp>
      <p:sp>
        <p:nvSpPr>
          <p:cNvPr id="4" name="Slide Number Placeholder 3"/>
          <p:cNvSpPr>
            <a:spLocks noGrp="1"/>
          </p:cNvSpPr>
          <p:nvPr>
            <p:ph type="sldNum" sz="quarter" idx="10"/>
          </p:nvPr>
        </p:nvSpPr>
        <p:spPr/>
        <p:txBody>
          <a:bodyPr/>
          <a:lstStyle/>
          <a:p>
            <a:fld id="{206A6453-E32A-4C8D-AFB6-10E976858B49}" type="slidenum">
              <a:rPr lang="en-US" smtClean="0"/>
              <a:t>1</a:t>
            </a:fld>
            <a:endParaRPr lang="en-US"/>
          </a:p>
        </p:txBody>
      </p:sp>
    </p:spTree>
    <p:extLst>
      <p:ext uri="{BB962C8B-B14F-4D97-AF65-F5344CB8AC3E}">
        <p14:creationId xmlns:p14="http://schemas.microsoft.com/office/powerpoint/2010/main" val="2113269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Artificial intelligence is redefining cybersecurity by acting as a digital bodyguard that constantly learns and adapts. Unlike traditional systems that rely on known threats, AI can detect patterns and identify new or evolving attacks. This allows organizations to move from reacting to attacks to predicting and preventing them before damage occurs.</a:t>
            </a:r>
          </a:p>
          <a:p>
            <a:endParaRPr lang="en-US" dirty="0" smtClean="0"/>
          </a:p>
          <a:p>
            <a:r>
              <a:rPr lang="en-US" dirty="0" smtClean="0"/>
              <a:t>This slide explains the role of AI in cybersecurity and how it differs from traditional approaches. It shows the shift from reactive to predictive security. The visuals emphasize AI actively protecting systems in real time.</a:t>
            </a:r>
            <a:endParaRPr lang="en-US" dirty="0"/>
          </a:p>
        </p:txBody>
      </p:sp>
      <p:sp>
        <p:nvSpPr>
          <p:cNvPr id="4" name="Slide Number Placeholder 3"/>
          <p:cNvSpPr>
            <a:spLocks noGrp="1"/>
          </p:cNvSpPr>
          <p:nvPr>
            <p:ph type="sldNum" sz="quarter" idx="10"/>
          </p:nvPr>
        </p:nvSpPr>
        <p:spPr/>
        <p:txBody>
          <a:bodyPr/>
          <a:lstStyle/>
          <a:p>
            <a:fld id="{206A6453-E32A-4C8D-AFB6-10E976858B49}" type="slidenum">
              <a:rPr lang="en-US" smtClean="0"/>
              <a:t>2</a:t>
            </a:fld>
            <a:endParaRPr lang="en-US"/>
          </a:p>
        </p:txBody>
      </p:sp>
    </p:spTree>
    <p:extLst>
      <p:ext uri="{BB962C8B-B14F-4D97-AF65-F5344CB8AC3E}">
        <p14:creationId xmlns:p14="http://schemas.microsoft.com/office/powerpoint/2010/main" val="420188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One of the most powerful use cases of AI in cybersecurity is anomaly detection. These systems analyze network behavior and identify anything that does not match normal patterns, allowing them to detect new and previously unknown threats. Research shows that AI-based anomaly detection can ‘identify deviations from normal behavior… detecting novel and subtle threats’ (</a:t>
            </a:r>
            <a:r>
              <a:rPr lang="en-US" dirty="0" err="1" smtClean="0"/>
              <a:t>Chandola</a:t>
            </a:r>
            <a:r>
              <a:rPr lang="en-US" dirty="0" smtClean="0"/>
              <a:t>, Banerjee, &amp; Kumar, 2009) . This is far more effective than traditional systems, which rely on known attack signatures and often miss new threats.</a:t>
            </a:r>
          </a:p>
          <a:p>
            <a:endParaRPr lang="en-US" dirty="0" smtClean="0"/>
          </a:p>
          <a:p>
            <a:endParaRPr lang="en-US" dirty="0" smtClean="0"/>
          </a:p>
          <a:p>
            <a:r>
              <a:rPr lang="en-US" dirty="0" smtClean="0"/>
              <a:t>This slide focuses on a specific and powerful application of AI in cybersecurity. It explains how anomaly detection works and why it is effective. The visuals highlight unusual activity being identified within a network.</a:t>
            </a:r>
            <a:endParaRPr lang="en-US" dirty="0"/>
          </a:p>
        </p:txBody>
      </p:sp>
      <p:sp>
        <p:nvSpPr>
          <p:cNvPr id="4" name="Slide Number Placeholder 3"/>
          <p:cNvSpPr>
            <a:spLocks noGrp="1"/>
          </p:cNvSpPr>
          <p:nvPr>
            <p:ph type="sldNum" sz="quarter" idx="10"/>
          </p:nvPr>
        </p:nvSpPr>
        <p:spPr/>
        <p:txBody>
          <a:bodyPr/>
          <a:lstStyle/>
          <a:p>
            <a:fld id="{206A6453-E32A-4C8D-AFB6-10E976858B49}" type="slidenum">
              <a:rPr lang="en-US" smtClean="0"/>
              <a:t>3</a:t>
            </a:fld>
            <a:endParaRPr lang="en-US"/>
          </a:p>
        </p:txBody>
      </p:sp>
    </p:spTree>
    <p:extLst>
      <p:ext uri="{BB962C8B-B14F-4D97-AF65-F5344CB8AC3E}">
        <p14:creationId xmlns:p14="http://schemas.microsoft.com/office/powerpoint/2010/main" val="2514994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Several companies are leading the development of AI-driven cybersecurity solutions. </a:t>
            </a:r>
            <a:r>
              <a:rPr lang="en-US" dirty="0" err="1" smtClean="0"/>
              <a:t>Darktrace</a:t>
            </a:r>
            <a:r>
              <a:rPr lang="en-US" dirty="0" smtClean="0"/>
              <a:t> uses self-learning AI to detect threats without predefined rules, while </a:t>
            </a:r>
            <a:r>
              <a:rPr lang="en-US" dirty="0" err="1" smtClean="0"/>
              <a:t>CrowdStrike</a:t>
            </a:r>
            <a:r>
              <a:rPr lang="en-US" dirty="0" smtClean="0"/>
              <a:t> focuses on protecting endpoints like laptops and servers. Palo Alto Networks integrates AI into network security, showing how AI is becoming a core component of cyber defense across industries.</a:t>
            </a:r>
          </a:p>
          <a:p>
            <a:endParaRPr lang="en-US" dirty="0" smtClean="0"/>
          </a:p>
          <a:p>
            <a:endParaRPr lang="en-US" dirty="0" smtClean="0"/>
          </a:p>
          <a:p>
            <a:r>
              <a:rPr lang="en-US" dirty="0" smtClean="0"/>
              <a:t>This slide introduces real-world companies that are using AI to improve cybersecurity. It shows that AI is already being applied successfully in the industry. The visuals reinforce credibility and real-world application.</a:t>
            </a:r>
            <a:endParaRPr lang="en-US" dirty="0"/>
          </a:p>
        </p:txBody>
      </p:sp>
      <p:sp>
        <p:nvSpPr>
          <p:cNvPr id="4" name="Slide Number Placeholder 3"/>
          <p:cNvSpPr>
            <a:spLocks noGrp="1"/>
          </p:cNvSpPr>
          <p:nvPr>
            <p:ph type="sldNum" sz="quarter" idx="10"/>
          </p:nvPr>
        </p:nvSpPr>
        <p:spPr/>
        <p:txBody>
          <a:bodyPr/>
          <a:lstStyle/>
          <a:p>
            <a:fld id="{206A6453-E32A-4C8D-AFB6-10E976858B49}" type="slidenum">
              <a:rPr lang="en-US" smtClean="0"/>
              <a:t>4</a:t>
            </a:fld>
            <a:endParaRPr lang="en-US"/>
          </a:p>
        </p:txBody>
      </p:sp>
    </p:spTree>
    <p:extLst>
      <p:ext uri="{BB962C8B-B14F-4D97-AF65-F5344CB8AC3E}">
        <p14:creationId xmlns:p14="http://schemas.microsoft.com/office/powerpoint/2010/main" val="42029756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evaluate AI in cybersecurity, organizations rely on key performance indicators such as detection speed and response time. AI systems can process massive amounts of data instantly, improving both speed and accuracy. Research shows AI improves ‘automation, threat intelligence, and overall cyber defense effectiveness’(Jada, 2024) , which directly impacts how quickly organizations can respond to threats.</a:t>
            </a:r>
          </a:p>
          <a:p>
            <a:endParaRPr lang="en-US" dirty="0" smtClean="0"/>
          </a:p>
          <a:p>
            <a:r>
              <a:rPr lang="en-US" dirty="0" smtClean="0"/>
              <a:t>This slide explains how organizations evaluate AI effectiveness using key metrics. It connects technical performance to real-world outcomes. The visuals focus on dashboards and measurable data.</a:t>
            </a:r>
          </a:p>
          <a:p>
            <a:endParaRPr lang="en-US" dirty="0"/>
          </a:p>
        </p:txBody>
      </p:sp>
      <p:sp>
        <p:nvSpPr>
          <p:cNvPr id="4" name="Slide Number Placeholder 3"/>
          <p:cNvSpPr>
            <a:spLocks noGrp="1"/>
          </p:cNvSpPr>
          <p:nvPr>
            <p:ph type="sldNum" sz="quarter" idx="10"/>
          </p:nvPr>
        </p:nvSpPr>
        <p:spPr/>
        <p:txBody>
          <a:bodyPr/>
          <a:lstStyle/>
          <a:p>
            <a:fld id="{206A6453-E32A-4C8D-AFB6-10E976858B49}" type="slidenum">
              <a:rPr lang="en-US" smtClean="0"/>
              <a:t>5</a:t>
            </a:fld>
            <a:endParaRPr lang="en-US"/>
          </a:p>
        </p:txBody>
      </p:sp>
    </p:spTree>
    <p:extLst>
      <p:ext uri="{BB962C8B-B14F-4D97-AF65-F5344CB8AC3E}">
        <p14:creationId xmlns:p14="http://schemas.microsoft.com/office/powerpoint/2010/main" val="24227794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future of cybersecurity is moving toward predictive and autonomous systems. We are entering an era of AI versus AI, where attackers and defenders both use advanced systems. AI will also expand into industries like healthcare and finance, where protecting sensitive data is critical, making cybersecurity more intelligent and adaptive than ever before.</a:t>
            </a:r>
          </a:p>
          <a:p>
            <a:endParaRPr lang="en-US" dirty="0" smtClean="0"/>
          </a:p>
          <a:p>
            <a:endParaRPr lang="en-US" dirty="0" smtClean="0"/>
          </a:p>
          <a:p>
            <a:r>
              <a:rPr lang="en-US" dirty="0" smtClean="0"/>
              <a:t>This slide explores where cybersecurity is heading with AI. It introduces concepts like predictive security and AI vs AI. The visuals emphasize a futuristic and evolving digital environment.</a:t>
            </a:r>
            <a:endParaRPr lang="en-US" dirty="0"/>
          </a:p>
        </p:txBody>
      </p:sp>
      <p:sp>
        <p:nvSpPr>
          <p:cNvPr id="4" name="Slide Number Placeholder 3"/>
          <p:cNvSpPr>
            <a:spLocks noGrp="1"/>
          </p:cNvSpPr>
          <p:nvPr>
            <p:ph type="sldNum" sz="quarter" idx="10"/>
          </p:nvPr>
        </p:nvSpPr>
        <p:spPr/>
        <p:txBody>
          <a:bodyPr/>
          <a:lstStyle/>
          <a:p>
            <a:fld id="{206A6453-E32A-4C8D-AFB6-10E976858B49}" type="slidenum">
              <a:rPr lang="en-US" smtClean="0"/>
              <a:t>6</a:t>
            </a:fld>
            <a:endParaRPr lang="en-US"/>
          </a:p>
        </p:txBody>
      </p:sp>
    </p:spTree>
    <p:extLst>
      <p:ext uri="{BB962C8B-B14F-4D97-AF65-F5344CB8AC3E}">
        <p14:creationId xmlns:p14="http://schemas.microsoft.com/office/powerpoint/2010/main" val="77671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conclusion, AI is transforming cybersecurity by making it faster, more accurate, and more proactive. However, it is not without risks, as it requires careful oversight to ensure ethical and responsible use. The strongest cybersecurity systems will combine AI efficiency with human judgment.</a:t>
            </a:r>
          </a:p>
          <a:p>
            <a:endParaRPr lang="en-US" dirty="0" smtClean="0"/>
          </a:p>
          <a:p>
            <a:r>
              <a:rPr lang="en-US" dirty="0" smtClean="0"/>
              <a:t>This slide summarizes the key points of the presentation. It reinforces the importance of AI while acknowledging the need for human oversight. The visuals support the idea of secure and balanced systems.</a:t>
            </a:r>
            <a:endParaRPr lang="en-US" dirty="0"/>
          </a:p>
        </p:txBody>
      </p:sp>
      <p:sp>
        <p:nvSpPr>
          <p:cNvPr id="4" name="Slide Number Placeholder 3"/>
          <p:cNvSpPr>
            <a:spLocks noGrp="1"/>
          </p:cNvSpPr>
          <p:nvPr>
            <p:ph type="sldNum" sz="quarter" idx="10"/>
          </p:nvPr>
        </p:nvSpPr>
        <p:spPr/>
        <p:txBody>
          <a:bodyPr/>
          <a:lstStyle/>
          <a:p>
            <a:fld id="{206A6453-E32A-4C8D-AFB6-10E976858B49}" type="slidenum">
              <a:rPr lang="en-US" smtClean="0"/>
              <a:t>7</a:t>
            </a:fld>
            <a:endParaRPr lang="en-US"/>
          </a:p>
        </p:txBody>
      </p:sp>
    </p:spTree>
    <p:extLst>
      <p:ext uri="{BB962C8B-B14F-4D97-AF65-F5344CB8AC3E}">
        <p14:creationId xmlns:p14="http://schemas.microsoft.com/office/powerpoint/2010/main" val="2347434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7AA3966-AB57-4221-BF8C-E91A42D6FF1A}"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BD399E-4CEA-47D5-9FFE-2E869E74548F}" type="slidenum">
              <a:rPr lang="en-US" smtClean="0"/>
              <a:t>‹#›</a:t>
            </a:fld>
            <a:endParaRPr lang="en-US"/>
          </a:p>
        </p:txBody>
      </p:sp>
    </p:spTree>
    <p:extLst>
      <p:ext uri="{BB962C8B-B14F-4D97-AF65-F5344CB8AC3E}">
        <p14:creationId xmlns:p14="http://schemas.microsoft.com/office/powerpoint/2010/main" val="2161295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AA3966-AB57-4221-BF8C-E91A42D6FF1A}"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BD399E-4CEA-47D5-9FFE-2E869E74548F}" type="slidenum">
              <a:rPr lang="en-US" smtClean="0"/>
              <a:t>‹#›</a:t>
            </a:fld>
            <a:endParaRPr lang="en-US"/>
          </a:p>
        </p:txBody>
      </p:sp>
    </p:spTree>
    <p:extLst>
      <p:ext uri="{BB962C8B-B14F-4D97-AF65-F5344CB8AC3E}">
        <p14:creationId xmlns:p14="http://schemas.microsoft.com/office/powerpoint/2010/main" val="2717766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smtClean="0"/>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7AA3966-AB57-4221-BF8C-E91A42D6FF1A}"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BD399E-4CEA-47D5-9FFE-2E869E74548F}" type="slidenum">
              <a:rPr lang="en-US" smtClean="0"/>
              <a:t>‹#›</a:t>
            </a:fld>
            <a:endParaRPr lang="en-US"/>
          </a:p>
        </p:txBody>
      </p:sp>
    </p:spTree>
    <p:extLst>
      <p:ext uri="{BB962C8B-B14F-4D97-AF65-F5344CB8AC3E}">
        <p14:creationId xmlns:p14="http://schemas.microsoft.com/office/powerpoint/2010/main" val="3841936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7AA3966-AB57-4221-BF8C-E91A42D6FF1A}"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BD399E-4CEA-47D5-9FFE-2E869E74548F}" type="slidenum">
              <a:rPr lang="en-US" smtClean="0"/>
              <a:t>‹#›</a:t>
            </a:fld>
            <a:endParaRPr lang="en-US"/>
          </a:p>
        </p:txBody>
      </p:sp>
    </p:spTree>
    <p:extLst>
      <p:ext uri="{BB962C8B-B14F-4D97-AF65-F5344CB8AC3E}">
        <p14:creationId xmlns:p14="http://schemas.microsoft.com/office/powerpoint/2010/main" val="2545950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7AA3966-AB57-4221-BF8C-E91A42D6FF1A}" type="datetimeFigureOut">
              <a:rPr lang="en-US" smtClean="0"/>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1BD399E-4CEA-47D5-9FFE-2E869E74548F}" type="slidenum">
              <a:rPr lang="en-US" smtClean="0"/>
              <a:t>‹#›</a:t>
            </a:fld>
            <a:endParaRPr lang="en-US"/>
          </a:p>
        </p:txBody>
      </p:sp>
    </p:spTree>
    <p:extLst>
      <p:ext uri="{BB962C8B-B14F-4D97-AF65-F5344CB8AC3E}">
        <p14:creationId xmlns:p14="http://schemas.microsoft.com/office/powerpoint/2010/main" val="2064672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7AA3966-AB57-4221-BF8C-E91A42D6FF1A}" type="datetimeFigureOut">
              <a:rPr lang="en-US" smtClean="0"/>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1BD399E-4CEA-47D5-9FFE-2E869E74548F}" type="slidenum">
              <a:rPr lang="en-US" smtClean="0"/>
              <a:t>‹#›</a:t>
            </a:fld>
            <a:endParaRPr lang="en-US"/>
          </a:p>
        </p:txBody>
      </p:sp>
    </p:spTree>
    <p:extLst>
      <p:ext uri="{BB962C8B-B14F-4D97-AF65-F5344CB8AC3E}">
        <p14:creationId xmlns:p14="http://schemas.microsoft.com/office/powerpoint/2010/main" val="1776549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AA3966-AB57-4221-BF8C-E91A42D6FF1A}" type="datetimeFigureOut">
              <a:rPr lang="en-US" smtClean="0"/>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1BD399E-4CEA-47D5-9FFE-2E869E74548F}" type="slidenum">
              <a:rPr lang="en-US" smtClean="0"/>
              <a:t>‹#›</a:t>
            </a:fld>
            <a:endParaRPr lang="en-US"/>
          </a:p>
        </p:txBody>
      </p:sp>
    </p:spTree>
    <p:extLst>
      <p:ext uri="{BB962C8B-B14F-4D97-AF65-F5344CB8AC3E}">
        <p14:creationId xmlns:p14="http://schemas.microsoft.com/office/powerpoint/2010/main" val="3805498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smtClean="0"/>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AA3966-AB57-4221-BF8C-E91A42D6FF1A}"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BD399E-4CEA-47D5-9FFE-2E869E74548F}" type="slidenum">
              <a:rPr lang="en-US" smtClean="0"/>
              <a:t>‹#›</a:t>
            </a:fld>
            <a:endParaRPr lang="en-US"/>
          </a:p>
        </p:txBody>
      </p:sp>
    </p:spTree>
    <p:extLst>
      <p:ext uri="{BB962C8B-B14F-4D97-AF65-F5344CB8AC3E}">
        <p14:creationId xmlns:p14="http://schemas.microsoft.com/office/powerpoint/2010/main" val="1412445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smtClean="0"/>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smtClean="0"/>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C7AA3966-AB57-4221-BF8C-E91A42D6FF1A}" type="datetimeFigureOut">
              <a:rPr lang="en-US" smtClean="0"/>
              <a:t>6/19/2026</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21BD399E-4CEA-47D5-9FFE-2E869E74548F}" type="slidenum">
              <a:rPr lang="en-US" smtClean="0"/>
              <a:t>‹#›</a:t>
            </a:fld>
            <a:endParaRPr lang="en-US"/>
          </a:p>
        </p:txBody>
      </p:sp>
    </p:spTree>
    <p:extLst>
      <p:ext uri="{BB962C8B-B14F-4D97-AF65-F5344CB8AC3E}">
        <p14:creationId xmlns:p14="http://schemas.microsoft.com/office/powerpoint/2010/main" val="984409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smtClean="0"/>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smtClean="0"/>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AA3966-AB57-4221-BF8C-E91A42D6FF1A}"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BD399E-4CEA-47D5-9FFE-2E869E74548F}" type="slidenum">
              <a:rPr lang="en-US" smtClean="0"/>
              <a:t>‹#›</a:t>
            </a:fld>
            <a:endParaRPr lang="en-US"/>
          </a:p>
        </p:txBody>
      </p:sp>
    </p:spTree>
    <p:extLst>
      <p:ext uri="{BB962C8B-B14F-4D97-AF65-F5344CB8AC3E}">
        <p14:creationId xmlns:p14="http://schemas.microsoft.com/office/powerpoint/2010/main" val="2376743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smtClean="0"/>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smtClean="0"/>
              <a:t>Click to edit Master text styles</a:t>
            </a:r>
          </a:p>
        </p:txBody>
      </p:sp>
      <p:sp>
        <p:nvSpPr>
          <p:cNvPr id="4" name="Date Placeholder 3"/>
          <p:cNvSpPr>
            <a:spLocks noGrp="1"/>
          </p:cNvSpPr>
          <p:nvPr>
            <p:ph type="dt" sz="half" idx="10"/>
          </p:nvPr>
        </p:nvSpPr>
        <p:spPr/>
        <p:txBody>
          <a:bodyPr/>
          <a:lstStyle/>
          <a:p>
            <a:fld id="{C7AA3966-AB57-4221-BF8C-E91A42D6FF1A}"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BD399E-4CEA-47D5-9FFE-2E869E74548F}" type="slidenum">
              <a:rPr lang="en-US" smtClean="0"/>
              <a:t>‹#›</a:t>
            </a:fld>
            <a:endParaRPr lang="en-US"/>
          </a:p>
        </p:txBody>
      </p:sp>
    </p:spTree>
    <p:extLst>
      <p:ext uri="{BB962C8B-B14F-4D97-AF65-F5344CB8AC3E}">
        <p14:creationId xmlns:p14="http://schemas.microsoft.com/office/powerpoint/2010/main" val="181498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smtClean="0"/>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smtClean="0"/>
              <a:t>Click to edit Master text styles</a:t>
            </a:r>
          </a:p>
        </p:txBody>
      </p:sp>
      <p:sp>
        <p:nvSpPr>
          <p:cNvPr id="2" name="Date Placeholder 1"/>
          <p:cNvSpPr>
            <a:spLocks noGrp="1"/>
          </p:cNvSpPr>
          <p:nvPr>
            <p:ph type="dt" sz="half" idx="10"/>
          </p:nvPr>
        </p:nvSpPr>
        <p:spPr/>
        <p:txBody>
          <a:bodyPr/>
          <a:lstStyle/>
          <a:p>
            <a:fld id="{C7AA3966-AB57-4221-BF8C-E91A42D6FF1A}" type="datetimeFigureOut">
              <a:rPr lang="en-US" smtClean="0"/>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1BD399E-4CEA-47D5-9FFE-2E869E74548F}" type="slidenum">
              <a:rPr lang="en-US" smtClean="0"/>
              <a:t>‹#›</a:t>
            </a:fld>
            <a:endParaRPr lang="en-US"/>
          </a:p>
        </p:txBody>
      </p:sp>
    </p:spTree>
    <p:extLst>
      <p:ext uri="{BB962C8B-B14F-4D97-AF65-F5344CB8AC3E}">
        <p14:creationId xmlns:p14="http://schemas.microsoft.com/office/powerpoint/2010/main" val="24951969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AA3966-AB57-4221-BF8C-E91A42D6FF1A}"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BD399E-4CEA-47D5-9FFE-2E869E74548F}" type="slidenum">
              <a:rPr lang="en-US" smtClean="0"/>
              <a:t>‹#›</a:t>
            </a:fld>
            <a:endParaRPr lang="en-US"/>
          </a:p>
        </p:txBody>
      </p:sp>
    </p:spTree>
    <p:extLst>
      <p:ext uri="{BB962C8B-B14F-4D97-AF65-F5344CB8AC3E}">
        <p14:creationId xmlns:p14="http://schemas.microsoft.com/office/powerpoint/2010/main" val="25619308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AA3966-AB57-4221-BF8C-E91A42D6FF1A}"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BD399E-4CEA-47D5-9FFE-2E869E74548F}" type="slidenum">
              <a:rPr lang="en-US" smtClean="0"/>
              <a:t>‹#›</a:t>
            </a:fld>
            <a:endParaRPr lang="en-US"/>
          </a:p>
        </p:txBody>
      </p:sp>
    </p:spTree>
    <p:extLst>
      <p:ext uri="{BB962C8B-B14F-4D97-AF65-F5344CB8AC3E}">
        <p14:creationId xmlns:p14="http://schemas.microsoft.com/office/powerpoint/2010/main" val="897174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C7AA3966-AB57-4221-BF8C-E91A42D6FF1A}" type="datetimeFigureOut">
              <a:rPr lang="en-US" smtClean="0"/>
              <a:t>6/19/2026</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21BD399E-4CEA-47D5-9FFE-2E869E74548F}" type="slidenum">
              <a:rPr lang="en-US" smtClean="0"/>
              <a:t>‹#›</a:t>
            </a:fld>
            <a:endParaRPr lang="en-US"/>
          </a:p>
        </p:txBody>
      </p:sp>
    </p:spTree>
    <p:extLst>
      <p:ext uri="{BB962C8B-B14F-4D97-AF65-F5344CB8AC3E}">
        <p14:creationId xmlns:p14="http://schemas.microsoft.com/office/powerpoint/2010/main" val="1205207272"/>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hyperlink" Target="https://doi.org/10.1145/1541880.154188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662401"/>
          </a:xfrm>
        </p:spPr>
        <p:txBody>
          <a:bodyPr>
            <a:normAutofit fontScale="90000"/>
          </a:bodyPr>
          <a:lstStyle/>
          <a:p>
            <a:r>
              <a:rPr lang="en-US" b="1" dirty="0" smtClean="0"/>
              <a:t>AI vs Threats: Defending the Digital Frontier</a:t>
            </a:r>
            <a:endParaRPr lang="en-US" b="1" dirty="0"/>
          </a:p>
        </p:txBody>
      </p:sp>
      <p:sp>
        <p:nvSpPr>
          <p:cNvPr id="3" name="Subtitle 2"/>
          <p:cNvSpPr>
            <a:spLocks noGrp="1"/>
          </p:cNvSpPr>
          <p:nvPr>
            <p:ph type="subTitle" idx="1"/>
          </p:nvPr>
        </p:nvSpPr>
        <p:spPr>
          <a:xfrm>
            <a:off x="1524000" y="3075709"/>
            <a:ext cx="9144000" cy="2732809"/>
          </a:xfrm>
        </p:spPr>
        <p:txBody>
          <a:bodyPr/>
          <a:lstStyle/>
          <a:p>
            <a:r>
              <a:rPr lang="en-US" sz="2800" b="1" dirty="0" smtClean="0"/>
              <a:t>How Artificial Intelligence is Redefining Cybersecurity</a:t>
            </a:r>
          </a:p>
          <a:p>
            <a:r>
              <a:rPr lang="en-US" dirty="0" smtClean="0"/>
              <a:t>Matthew Kolonich</a:t>
            </a:r>
            <a:br>
              <a:rPr lang="en-US" dirty="0" smtClean="0"/>
            </a:br>
            <a:r>
              <a:rPr lang="en-US" dirty="0" smtClean="0"/>
              <a:t>ARIN 410</a:t>
            </a:r>
            <a:br>
              <a:rPr lang="en-US" dirty="0" smtClean="0"/>
            </a:br>
            <a:r>
              <a:rPr lang="en-US" dirty="0" smtClean="0"/>
              <a:t>04/21/2026</a:t>
            </a:r>
            <a:br>
              <a:rPr lang="en-US" dirty="0" smtClean="0"/>
            </a:br>
            <a:r>
              <a:rPr lang="en-US" dirty="0" smtClean="0"/>
              <a:t>Professor </a:t>
            </a:r>
            <a:r>
              <a:rPr lang="en-US" dirty="0" err="1" smtClean="0"/>
              <a:t>Caramancion</a:t>
            </a:r>
            <a:endParaRPr lang="en-US" dirty="0" smtClean="0"/>
          </a:p>
          <a:p>
            <a:endParaRPr lang="en-US" dirty="0"/>
          </a:p>
        </p:txBody>
      </p:sp>
      <p:pic>
        <p:nvPicPr>
          <p:cNvPr id="4" name="Picture 3"/>
          <p:cNvPicPr>
            <a:picLocks noChangeAspect="1"/>
          </p:cNvPicPr>
          <p:nvPr/>
        </p:nvPicPr>
        <p:blipFill>
          <a:blip r:embed="rId3"/>
          <a:stretch>
            <a:fillRect/>
          </a:stretch>
        </p:blipFill>
        <p:spPr>
          <a:xfrm>
            <a:off x="9154080" y="5128347"/>
            <a:ext cx="3027839" cy="1729653"/>
          </a:xfrm>
          <a:prstGeom prst="rect">
            <a:avLst/>
          </a:prstGeom>
        </p:spPr>
      </p:pic>
      <p:pic>
        <p:nvPicPr>
          <p:cNvPr id="5" name="Picture 4"/>
          <p:cNvPicPr>
            <a:picLocks noChangeAspect="1"/>
          </p:cNvPicPr>
          <p:nvPr/>
        </p:nvPicPr>
        <p:blipFill>
          <a:blip r:embed="rId4"/>
          <a:stretch>
            <a:fillRect/>
          </a:stretch>
        </p:blipFill>
        <p:spPr>
          <a:xfrm>
            <a:off x="0" y="-27769"/>
            <a:ext cx="1524000" cy="1653321"/>
          </a:xfrm>
          <a:prstGeom prst="rect">
            <a:avLst/>
          </a:prstGeom>
        </p:spPr>
      </p:pic>
    </p:spTree>
    <p:extLst>
      <p:ext uri="{BB962C8B-B14F-4D97-AF65-F5344CB8AC3E}">
        <p14:creationId xmlns:p14="http://schemas.microsoft.com/office/powerpoint/2010/main" val="3754377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5400" b="1" dirty="0" smtClean="0"/>
              <a:t>Cybersecurity Reimagined with AI</a:t>
            </a:r>
            <a:endParaRPr lang="en-US" sz="5400" b="1" dirty="0"/>
          </a:p>
        </p:txBody>
      </p:sp>
      <p:sp>
        <p:nvSpPr>
          <p:cNvPr id="3" name="Content Placeholder 2"/>
          <p:cNvSpPr>
            <a:spLocks noGrp="1"/>
          </p:cNvSpPr>
          <p:nvPr>
            <p:ph idx="1"/>
          </p:nvPr>
        </p:nvSpPr>
        <p:spPr/>
        <p:txBody>
          <a:bodyPr/>
          <a:lstStyle/>
          <a:p>
            <a:r>
              <a:rPr lang="en-US" dirty="0" smtClean="0"/>
              <a:t>AI = systems that learn patterns and detect threats </a:t>
            </a:r>
          </a:p>
          <a:p>
            <a:endParaRPr lang="en-US" dirty="0" smtClean="0"/>
          </a:p>
          <a:p>
            <a:r>
              <a:rPr lang="en-US" dirty="0" smtClean="0"/>
              <a:t>Protects against malware, phishing, and intrusions </a:t>
            </a:r>
          </a:p>
          <a:p>
            <a:pPr marL="0" indent="0">
              <a:buNone/>
            </a:pPr>
            <a:endParaRPr lang="en-US" dirty="0" smtClean="0"/>
          </a:p>
          <a:p>
            <a:r>
              <a:rPr lang="en-US" dirty="0" smtClean="0"/>
              <a:t>Operates in real time </a:t>
            </a:r>
          </a:p>
          <a:p>
            <a:endParaRPr lang="en-US" dirty="0" smtClean="0"/>
          </a:p>
          <a:p>
            <a:r>
              <a:rPr lang="en-US" dirty="0" smtClean="0"/>
              <a:t>Shifts defense from reactive → predictive </a:t>
            </a:r>
          </a:p>
          <a:p>
            <a:endParaRPr lang="en-US" dirty="0"/>
          </a:p>
        </p:txBody>
      </p:sp>
      <p:pic>
        <p:nvPicPr>
          <p:cNvPr id="4" name="Picture 3"/>
          <p:cNvPicPr>
            <a:picLocks noChangeAspect="1"/>
          </p:cNvPicPr>
          <p:nvPr/>
        </p:nvPicPr>
        <p:blipFill>
          <a:blip r:embed="rId3"/>
          <a:stretch>
            <a:fillRect/>
          </a:stretch>
        </p:blipFill>
        <p:spPr>
          <a:xfrm>
            <a:off x="7477126" y="4500031"/>
            <a:ext cx="4194174" cy="2294469"/>
          </a:xfrm>
          <a:prstGeom prst="rect">
            <a:avLst/>
          </a:prstGeom>
        </p:spPr>
      </p:pic>
      <p:pic>
        <p:nvPicPr>
          <p:cNvPr id="5" name="Picture 4"/>
          <p:cNvPicPr>
            <a:picLocks noChangeAspect="1"/>
          </p:cNvPicPr>
          <p:nvPr/>
        </p:nvPicPr>
        <p:blipFill>
          <a:blip r:embed="rId4"/>
          <a:stretch>
            <a:fillRect/>
          </a:stretch>
        </p:blipFill>
        <p:spPr>
          <a:xfrm>
            <a:off x="8239126" y="2734732"/>
            <a:ext cx="3038475" cy="1714500"/>
          </a:xfrm>
          <a:prstGeom prst="rect">
            <a:avLst/>
          </a:prstGeom>
        </p:spPr>
      </p:pic>
    </p:spTree>
    <p:extLst>
      <p:ext uri="{BB962C8B-B14F-4D97-AF65-F5344CB8AC3E}">
        <p14:creationId xmlns:p14="http://schemas.microsoft.com/office/powerpoint/2010/main" val="1188033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400" b="1" dirty="0" smtClean="0"/>
              <a:t>Advanced Use Case: AI Anomaly Detection Systems</a:t>
            </a:r>
            <a:endParaRPr lang="en-US" sz="4400" b="1" dirty="0"/>
          </a:p>
        </p:txBody>
      </p:sp>
      <p:sp>
        <p:nvSpPr>
          <p:cNvPr id="3" name="Content Placeholder 2"/>
          <p:cNvSpPr>
            <a:spLocks noGrp="1"/>
          </p:cNvSpPr>
          <p:nvPr>
            <p:ph idx="1"/>
          </p:nvPr>
        </p:nvSpPr>
        <p:spPr/>
        <p:txBody>
          <a:bodyPr>
            <a:normAutofit fontScale="92500" lnSpcReduction="10000"/>
          </a:bodyPr>
          <a:lstStyle/>
          <a:p>
            <a:pPr marL="0" indent="0" algn="ctr">
              <a:buNone/>
            </a:pPr>
            <a:r>
              <a:rPr lang="en-US" sz="3600" b="1" dirty="0" smtClean="0"/>
              <a:t>AI-Driven Anomaly Detection</a:t>
            </a:r>
            <a:endParaRPr lang="en-US" sz="3600" dirty="0" smtClean="0"/>
          </a:p>
          <a:p>
            <a:pPr algn="ctr"/>
            <a:r>
              <a:rPr lang="en-US" sz="4000" dirty="0" smtClean="0"/>
              <a:t>Detects unusual behavior in networks </a:t>
            </a:r>
          </a:p>
          <a:p>
            <a:pPr algn="ctr"/>
            <a:r>
              <a:rPr lang="en-US" sz="4000" dirty="0" smtClean="0"/>
              <a:t>Identifies unknown and zero-day attacks </a:t>
            </a:r>
          </a:p>
          <a:p>
            <a:pPr algn="ctr"/>
            <a:r>
              <a:rPr lang="en-US" sz="4000" dirty="0" smtClean="0"/>
              <a:t>Uses machine learning models </a:t>
            </a:r>
          </a:p>
          <a:p>
            <a:pPr algn="ctr"/>
            <a:r>
              <a:rPr lang="en-US" sz="4000" dirty="0" smtClean="0"/>
              <a:t>Adapts over time</a:t>
            </a:r>
          </a:p>
          <a:p>
            <a:endParaRPr lang="en-US" dirty="0"/>
          </a:p>
        </p:txBody>
      </p:sp>
      <p:pic>
        <p:nvPicPr>
          <p:cNvPr id="4" name="Picture 3"/>
          <p:cNvPicPr>
            <a:picLocks noChangeAspect="1"/>
          </p:cNvPicPr>
          <p:nvPr/>
        </p:nvPicPr>
        <p:blipFill>
          <a:blip r:embed="rId3"/>
          <a:stretch>
            <a:fillRect/>
          </a:stretch>
        </p:blipFill>
        <p:spPr>
          <a:xfrm>
            <a:off x="0" y="5486400"/>
            <a:ext cx="3479800" cy="1371600"/>
          </a:xfrm>
          <a:prstGeom prst="rect">
            <a:avLst/>
          </a:prstGeom>
        </p:spPr>
      </p:pic>
      <p:pic>
        <p:nvPicPr>
          <p:cNvPr id="5" name="Picture 4"/>
          <p:cNvPicPr>
            <a:picLocks noChangeAspect="1"/>
          </p:cNvPicPr>
          <p:nvPr/>
        </p:nvPicPr>
        <p:blipFill>
          <a:blip r:embed="rId4"/>
          <a:stretch>
            <a:fillRect/>
          </a:stretch>
        </p:blipFill>
        <p:spPr>
          <a:xfrm>
            <a:off x="9220200" y="4965700"/>
            <a:ext cx="2870200" cy="1739899"/>
          </a:xfrm>
          <a:prstGeom prst="rect">
            <a:avLst/>
          </a:prstGeom>
        </p:spPr>
      </p:pic>
    </p:spTree>
    <p:extLst>
      <p:ext uri="{BB962C8B-B14F-4D97-AF65-F5344CB8AC3E}">
        <p14:creationId xmlns:p14="http://schemas.microsoft.com/office/powerpoint/2010/main" val="1889181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b="1" dirty="0" smtClean="0"/>
              <a:t>Leaders in AI Cyber Defense</a:t>
            </a:r>
            <a:endParaRPr lang="en-US" sz="5400" b="1" dirty="0"/>
          </a:p>
        </p:txBody>
      </p:sp>
      <p:sp>
        <p:nvSpPr>
          <p:cNvPr id="3" name="Content Placeholder 2"/>
          <p:cNvSpPr>
            <a:spLocks noGrp="1"/>
          </p:cNvSpPr>
          <p:nvPr>
            <p:ph idx="1"/>
          </p:nvPr>
        </p:nvSpPr>
        <p:spPr/>
        <p:txBody>
          <a:bodyPr>
            <a:normAutofit fontScale="92500" lnSpcReduction="10000"/>
          </a:bodyPr>
          <a:lstStyle/>
          <a:p>
            <a:pPr marL="0" indent="0" algn="ctr">
              <a:buNone/>
            </a:pPr>
            <a:r>
              <a:rPr lang="en-US" sz="3200" b="1" dirty="0" smtClean="0"/>
              <a:t>Industry Leaders</a:t>
            </a:r>
            <a:endParaRPr lang="en-US" sz="3200" dirty="0" smtClean="0"/>
          </a:p>
          <a:p>
            <a:pPr algn="ctr"/>
            <a:r>
              <a:rPr lang="en-US" sz="3200" b="1" dirty="0" err="1" smtClean="0"/>
              <a:t>Darktrace</a:t>
            </a:r>
            <a:r>
              <a:rPr lang="en-US" sz="3200" dirty="0" smtClean="0"/>
              <a:t> → Self-learning AI defense </a:t>
            </a:r>
          </a:p>
          <a:p>
            <a:pPr algn="ctr"/>
            <a:endParaRPr lang="en-US" sz="3200" dirty="0" smtClean="0"/>
          </a:p>
          <a:p>
            <a:pPr algn="ctr"/>
            <a:r>
              <a:rPr lang="en-US" sz="3200" b="1" dirty="0" err="1" smtClean="0"/>
              <a:t>CrowdStrike</a:t>
            </a:r>
            <a:r>
              <a:rPr lang="en-US" sz="3200" dirty="0" smtClean="0"/>
              <a:t> → AI-powered endpoint protection</a:t>
            </a:r>
          </a:p>
          <a:p>
            <a:pPr marL="0" indent="0" algn="ctr">
              <a:buNone/>
            </a:pPr>
            <a:r>
              <a:rPr lang="en-US" sz="3200" dirty="0" smtClean="0"/>
              <a:t> </a:t>
            </a:r>
          </a:p>
          <a:p>
            <a:pPr algn="ctr"/>
            <a:r>
              <a:rPr lang="en-US" sz="3200" b="1" dirty="0" smtClean="0"/>
              <a:t>Palo Alto Networks</a:t>
            </a:r>
            <a:r>
              <a:rPr lang="en-US" sz="3200" dirty="0" smtClean="0"/>
              <a:t> → Intelligent network security </a:t>
            </a:r>
          </a:p>
          <a:p>
            <a:pPr algn="ctr"/>
            <a:endParaRPr lang="en-US" sz="3200" dirty="0"/>
          </a:p>
        </p:txBody>
      </p:sp>
      <p:pic>
        <p:nvPicPr>
          <p:cNvPr id="4" name="Picture 3"/>
          <p:cNvPicPr>
            <a:picLocks noChangeAspect="1"/>
          </p:cNvPicPr>
          <p:nvPr/>
        </p:nvPicPr>
        <p:blipFill>
          <a:blip r:embed="rId3"/>
          <a:stretch>
            <a:fillRect/>
          </a:stretch>
        </p:blipFill>
        <p:spPr>
          <a:xfrm>
            <a:off x="174623" y="5484812"/>
            <a:ext cx="2571750" cy="1304925"/>
          </a:xfrm>
          <a:prstGeom prst="rect">
            <a:avLst/>
          </a:prstGeom>
        </p:spPr>
      </p:pic>
      <p:pic>
        <p:nvPicPr>
          <p:cNvPr id="5" name="Picture 4"/>
          <p:cNvPicPr>
            <a:picLocks noChangeAspect="1"/>
          </p:cNvPicPr>
          <p:nvPr/>
        </p:nvPicPr>
        <p:blipFill>
          <a:blip r:embed="rId4"/>
          <a:stretch>
            <a:fillRect/>
          </a:stretch>
        </p:blipFill>
        <p:spPr>
          <a:xfrm>
            <a:off x="8597900" y="5511800"/>
            <a:ext cx="3419475" cy="1250950"/>
          </a:xfrm>
          <a:prstGeom prst="rect">
            <a:avLst/>
          </a:prstGeom>
        </p:spPr>
      </p:pic>
    </p:spTree>
    <p:extLst>
      <p:ext uri="{BB962C8B-B14F-4D97-AF65-F5344CB8AC3E}">
        <p14:creationId xmlns:p14="http://schemas.microsoft.com/office/powerpoint/2010/main" val="4161841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400" b="1" dirty="0" smtClean="0"/>
              <a:t>Measuring Cyber Defense </a:t>
            </a:r>
            <a:r>
              <a:rPr lang="en-US" sz="5400" b="1" dirty="0" smtClean="0"/>
              <a:t>Effectiveness</a:t>
            </a:r>
            <a:endParaRPr lang="en-US" sz="5400" b="1" dirty="0"/>
          </a:p>
        </p:txBody>
      </p:sp>
      <p:sp>
        <p:nvSpPr>
          <p:cNvPr id="3" name="Content Placeholder 2"/>
          <p:cNvSpPr>
            <a:spLocks noGrp="1"/>
          </p:cNvSpPr>
          <p:nvPr>
            <p:ph idx="1"/>
          </p:nvPr>
        </p:nvSpPr>
        <p:spPr/>
        <p:txBody>
          <a:bodyPr>
            <a:normAutofit fontScale="70000" lnSpcReduction="20000"/>
          </a:bodyPr>
          <a:lstStyle/>
          <a:p>
            <a:pPr marL="0" indent="0" algn="ctr">
              <a:buNone/>
            </a:pPr>
            <a:r>
              <a:rPr lang="en-US" sz="3200" b="1" dirty="0" smtClean="0"/>
              <a:t>Key Performance Indicators</a:t>
            </a:r>
            <a:endParaRPr lang="en-US" sz="3200" dirty="0" smtClean="0"/>
          </a:p>
          <a:p>
            <a:pPr algn="ctr"/>
            <a:r>
              <a:rPr lang="en-US" sz="3200" dirty="0" smtClean="0"/>
              <a:t>Detection speed </a:t>
            </a:r>
          </a:p>
          <a:p>
            <a:pPr algn="ctr"/>
            <a:endParaRPr lang="en-US" sz="3200" dirty="0" smtClean="0"/>
          </a:p>
          <a:p>
            <a:pPr algn="ctr"/>
            <a:r>
              <a:rPr lang="en-US" sz="3200" dirty="0" smtClean="0"/>
              <a:t>Response time </a:t>
            </a:r>
          </a:p>
          <a:p>
            <a:pPr marL="0" indent="0" algn="ctr">
              <a:buNone/>
            </a:pPr>
            <a:endParaRPr lang="en-US" sz="3200" dirty="0" smtClean="0"/>
          </a:p>
          <a:p>
            <a:pPr algn="ctr"/>
            <a:r>
              <a:rPr lang="en-US" sz="3200" dirty="0" smtClean="0"/>
              <a:t>False positive reduction </a:t>
            </a:r>
          </a:p>
          <a:p>
            <a:pPr algn="ctr"/>
            <a:endParaRPr lang="en-US" sz="3200" dirty="0" smtClean="0"/>
          </a:p>
          <a:p>
            <a:pPr algn="ctr"/>
            <a:r>
              <a:rPr lang="en-US" sz="3200" dirty="0" smtClean="0"/>
              <a:t>Threat prevention rate</a:t>
            </a:r>
          </a:p>
          <a:p>
            <a:pPr algn="ctr"/>
            <a:endParaRPr lang="en-US" dirty="0"/>
          </a:p>
        </p:txBody>
      </p:sp>
      <p:pic>
        <p:nvPicPr>
          <p:cNvPr id="4" name="Picture 3"/>
          <p:cNvPicPr>
            <a:picLocks noChangeAspect="1"/>
          </p:cNvPicPr>
          <p:nvPr/>
        </p:nvPicPr>
        <p:blipFill>
          <a:blip r:embed="rId3"/>
          <a:stretch>
            <a:fillRect/>
          </a:stretch>
        </p:blipFill>
        <p:spPr>
          <a:xfrm>
            <a:off x="8496300" y="2934494"/>
            <a:ext cx="3340100" cy="1879600"/>
          </a:xfrm>
          <a:prstGeom prst="rect">
            <a:avLst/>
          </a:prstGeom>
        </p:spPr>
      </p:pic>
    </p:spTree>
    <p:extLst>
      <p:ext uri="{BB962C8B-B14F-4D97-AF65-F5344CB8AC3E}">
        <p14:creationId xmlns:p14="http://schemas.microsoft.com/office/powerpoint/2010/main" val="238314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it-IT" sz="5400" b="1" dirty="0" smtClean="0"/>
              <a:t>The Future: AI vs AI Cyber Warfare</a:t>
            </a:r>
            <a:endParaRPr lang="en-US" sz="5400" b="1" dirty="0"/>
          </a:p>
        </p:txBody>
      </p:sp>
      <p:sp>
        <p:nvSpPr>
          <p:cNvPr id="3" name="Content Placeholder 2"/>
          <p:cNvSpPr>
            <a:spLocks noGrp="1"/>
          </p:cNvSpPr>
          <p:nvPr>
            <p:ph idx="1"/>
          </p:nvPr>
        </p:nvSpPr>
        <p:spPr>
          <a:xfrm>
            <a:off x="825500" y="2359025"/>
            <a:ext cx="10515600" cy="2809875"/>
          </a:xfrm>
        </p:spPr>
        <p:txBody>
          <a:bodyPr>
            <a:normAutofit lnSpcReduction="10000"/>
          </a:bodyPr>
          <a:lstStyle/>
          <a:p>
            <a:pPr algn="ctr"/>
            <a:r>
              <a:rPr lang="en-US" sz="3600" dirty="0" smtClean="0"/>
              <a:t>Predictive cybersecurity systems </a:t>
            </a:r>
          </a:p>
          <a:p>
            <a:pPr algn="ctr"/>
            <a:r>
              <a:rPr lang="en-US" sz="3600" dirty="0" smtClean="0"/>
              <a:t>AI vs AI (attack vs defense) </a:t>
            </a:r>
          </a:p>
          <a:p>
            <a:pPr algn="ctr"/>
            <a:r>
              <a:rPr lang="en-US" sz="3600" dirty="0" smtClean="0"/>
              <a:t>Self-healing networks </a:t>
            </a:r>
          </a:p>
          <a:p>
            <a:pPr algn="ctr"/>
            <a:r>
              <a:rPr lang="en-US" sz="3600" dirty="0" smtClean="0"/>
              <a:t>Expansion into healthcare &amp; finance </a:t>
            </a:r>
          </a:p>
          <a:p>
            <a:pPr marL="0" indent="0" algn="ctr">
              <a:buNone/>
            </a:pPr>
            <a:endParaRPr lang="en-US" sz="3600" dirty="0"/>
          </a:p>
        </p:txBody>
      </p:sp>
      <p:pic>
        <p:nvPicPr>
          <p:cNvPr id="4" name="Picture 3"/>
          <p:cNvPicPr>
            <a:picLocks noChangeAspect="1"/>
          </p:cNvPicPr>
          <p:nvPr/>
        </p:nvPicPr>
        <p:blipFill>
          <a:blip r:embed="rId3"/>
          <a:stretch>
            <a:fillRect/>
          </a:stretch>
        </p:blipFill>
        <p:spPr>
          <a:xfrm>
            <a:off x="0" y="5168900"/>
            <a:ext cx="3511550" cy="1689100"/>
          </a:xfrm>
          <a:prstGeom prst="rect">
            <a:avLst/>
          </a:prstGeom>
        </p:spPr>
      </p:pic>
      <p:pic>
        <p:nvPicPr>
          <p:cNvPr id="5" name="Picture 4"/>
          <p:cNvPicPr>
            <a:picLocks noChangeAspect="1"/>
          </p:cNvPicPr>
          <p:nvPr/>
        </p:nvPicPr>
        <p:blipFill>
          <a:blip r:embed="rId4"/>
          <a:stretch>
            <a:fillRect/>
          </a:stretch>
        </p:blipFill>
        <p:spPr>
          <a:xfrm>
            <a:off x="8178800" y="5168900"/>
            <a:ext cx="4013199" cy="1689100"/>
          </a:xfrm>
          <a:prstGeom prst="rect">
            <a:avLst/>
          </a:prstGeom>
        </p:spPr>
      </p:pic>
    </p:spTree>
    <p:extLst>
      <p:ext uri="{BB962C8B-B14F-4D97-AF65-F5344CB8AC3E}">
        <p14:creationId xmlns:p14="http://schemas.microsoft.com/office/powerpoint/2010/main" val="560050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b="1" dirty="0" smtClean="0"/>
              <a:t>Final Takeaways</a:t>
            </a:r>
            <a:endParaRPr lang="en-US" sz="5400" b="1" dirty="0"/>
          </a:p>
        </p:txBody>
      </p:sp>
      <p:sp>
        <p:nvSpPr>
          <p:cNvPr id="5" name="Rectangle 2"/>
          <p:cNvSpPr>
            <a:spLocks noGrp="1" noChangeArrowheads="1"/>
          </p:cNvSpPr>
          <p:nvPr>
            <p:ph idx="1"/>
          </p:nvPr>
        </p:nvSpPr>
        <p:spPr bwMode="auto">
          <a:xfrm>
            <a:off x="838200" y="1877636"/>
            <a:ext cx="814517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smtClean="0">
                <a:ln>
                  <a:noFill/>
                </a:ln>
                <a:solidFill>
                  <a:schemeClr val="tx1"/>
                </a:solidFill>
                <a:effectLst/>
                <a:latin typeface="Arial" panose="020B0604020202020204" pitchFamily="34" charset="0"/>
              </a:rPr>
              <a:t>AI increases speed and accuracy </a:t>
            </a:r>
          </a:p>
          <a:p>
            <a:pPr algn="ctr" eaLnBrk="0" fontAlgn="base" hangingPunct="0">
              <a:lnSpc>
                <a:spcPct val="100000"/>
              </a:lnSpc>
              <a:spcBef>
                <a:spcPct val="0"/>
              </a:spcBef>
              <a:spcAft>
                <a:spcPct val="0"/>
              </a:spcAft>
            </a:pPr>
            <a:endParaRPr kumimoji="0" lang="en-US" altLang="en-US" sz="3600" b="0" i="0" u="none" strike="noStrike" cap="none" normalizeH="0" baseline="0" dirty="0" smtClean="0">
              <a:ln>
                <a:noFill/>
              </a:ln>
              <a:solidFill>
                <a:schemeClr val="tx1"/>
              </a:solidFill>
              <a:effectLst/>
              <a:latin typeface="Arial" panose="020B0604020202020204" pitchFamily="34" charset="0"/>
            </a:endParaRPr>
          </a:p>
          <a:p>
            <a:pPr algn="ctr" eaLnBrk="0" fontAlgn="base" hangingPunct="0">
              <a:lnSpc>
                <a:spcPct val="100000"/>
              </a:lnSpc>
              <a:spcBef>
                <a:spcPct val="0"/>
              </a:spcBef>
              <a:spcAft>
                <a:spcPct val="0"/>
              </a:spcAft>
            </a:pPr>
            <a:r>
              <a:rPr kumimoji="0" lang="en-US" altLang="en-US" sz="3600" b="0" i="0" u="none" strike="noStrike" cap="none" normalizeH="0" baseline="0" dirty="0" smtClean="0">
                <a:ln>
                  <a:noFill/>
                </a:ln>
                <a:solidFill>
                  <a:schemeClr val="tx1"/>
                </a:solidFill>
                <a:effectLst/>
                <a:latin typeface="Arial" panose="020B0604020202020204" pitchFamily="34" charset="0"/>
              </a:rPr>
              <a:t>Reduces human workload </a:t>
            </a:r>
          </a:p>
          <a:p>
            <a:pPr marL="0" marR="0" lvl="0" indent="0" algn="ctr"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smtClean="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smtClean="0">
                <a:ln>
                  <a:noFill/>
                </a:ln>
                <a:solidFill>
                  <a:schemeClr val="tx1"/>
                </a:solidFill>
                <a:effectLst/>
                <a:latin typeface="Arial" panose="020B0604020202020204" pitchFamily="34" charset="0"/>
              </a:rPr>
              <a:t>Detects unknown threats </a:t>
            </a:r>
          </a:p>
          <a:p>
            <a:pPr marL="0" marR="0" lvl="0" indent="0" algn="ctr"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smtClean="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smtClean="0">
                <a:ln>
                  <a:noFill/>
                </a:ln>
                <a:solidFill>
                  <a:schemeClr val="tx1"/>
                </a:solidFill>
                <a:effectLst/>
                <a:latin typeface="Arial" panose="020B0604020202020204" pitchFamily="34" charset="0"/>
              </a:rPr>
              <a:t>Requires ethical oversight </a:t>
            </a:r>
          </a:p>
        </p:txBody>
      </p:sp>
      <p:pic>
        <p:nvPicPr>
          <p:cNvPr id="6" name="Picture 5"/>
          <p:cNvPicPr>
            <a:picLocks noChangeAspect="1"/>
          </p:cNvPicPr>
          <p:nvPr/>
        </p:nvPicPr>
        <p:blipFill>
          <a:blip r:embed="rId3"/>
          <a:stretch>
            <a:fillRect/>
          </a:stretch>
        </p:blipFill>
        <p:spPr>
          <a:xfrm>
            <a:off x="8153400" y="4381500"/>
            <a:ext cx="4038600" cy="2476500"/>
          </a:xfrm>
          <a:prstGeom prst="rect">
            <a:avLst/>
          </a:prstGeom>
        </p:spPr>
      </p:pic>
      <p:pic>
        <p:nvPicPr>
          <p:cNvPr id="7" name="Picture 6"/>
          <p:cNvPicPr>
            <a:picLocks noChangeAspect="1"/>
          </p:cNvPicPr>
          <p:nvPr/>
        </p:nvPicPr>
        <p:blipFill>
          <a:blip r:embed="rId4"/>
          <a:stretch>
            <a:fillRect/>
          </a:stretch>
        </p:blipFill>
        <p:spPr>
          <a:xfrm>
            <a:off x="8756650" y="2527300"/>
            <a:ext cx="2832100" cy="1657196"/>
          </a:xfrm>
          <a:prstGeom prst="rect">
            <a:avLst/>
          </a:prstGeom>
        </p:spPr>
      </p:pic>
    </p:spTree>
    <p:extLst>
      <p:ext uri="{BB962C8B-B14F-4D97-AF65-F5344CB8AC3E}">
        <p14:creationId xmlns:p14="http://schemas.microsoft.com/office/powerpoint/2010/main" val="3441048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b="1" dirty="0" smtClean="0"/>
              <a:t>References</a:t>
            </a:r>
            <a:endParaRPr lang="en-US" sz="5400" b="1" dirty="0"/>
          </a:p>
        </p:txBody>
      </p:sp>
      <p:sp>
        <p:nvSpPr>
          <p:cNvPr id="3" name="Content Placeholder 2"/>
          <p:cNvSpPr>
            <a:spLocks noGrp="1"/>
          </p:cNvSpPr>
          <p:nvPr>
            <p:ph idx="1"/>
          </p:nvPr>
        </p:nvSpPr>
        <p:spPr/>
        <p:txBody>
          <a:bodyPr>
            <a:normAutofit fontScale="92500" lnSpcReduction="20000"/>
          </a:bodyPr>
          <a:lstStyle/>
          <a:p>
            <a:pPr algn="ctr"/>
            <a:r>
              <a:rPr lang="en-US" sz="3200" dirty="0" smtClean="0"/>
              <a:t>Mohamed, N. (2025). Artificial intelligence and machine learning in cybersecurity.</a:t>
            </a:r>
          </a:p>
          <a:p>
            <a:pPr algn="ctr"/>
            <a:r>
              <a:rPr lang="en-US" sz="3200" dirty="0" smtClean="0"/>
              <a:t>Jada, I. (2024). The impact of artificial intelligence on organizational cybersecurity.</a:t>
            </a:r>
          </a:p>
          <a:p>
            <a:pPr algn="ctr"/>
            <a:r>
              <a:rPr lang="en-US" sz="3200" dirty="0" err="1" smtClean="0"/>
              <a:t>Chandola</a:t>
            </a:r>
            <a:r>
              <a:rPr lang="en-US" sz="3200" dirty="0" smtClean="0"/>
              <a:t>, V., Banerjee, A., &amp; Kumar, V. (2009). Anomaly detection: A survey. </a:t>
            </a:r>
            <a:r>
              <a:rPr lang="en-US" sz="3200" i="1" dirty="0" smtClean="0"/>
              <a:t>ACM Computing Surveys, 41</a:t>
            </a:r>
            <a:r>
              <a:rPr lang="en-US" sz="3200" dirty="0" smtClean="0"/>
              <a:t>(3), 1–58. </a:t>
            </a:r>
            <a:r>
              <a:rPr lang="en-US" sz="3200" dirty="0" smtClean="0">
                <a:hlinkClick r:id="rId2"/>
              </a:rPr>
              <a:t>https://doi.org/10.1145/1541880.1541882</a:t>
            </a:r>
            <a:endParaRPr lang="en-US" sz="3200" dirty="0"/>
          </a:p>
        </p:txBody>
      </p:sp>
    </p:spTree>
    <p:extLst>
      <p:ext uri="{BB962C8B-B14F-4D97-AF65-F5344CB8AC3E}">
        <p14:creationId xmlns:p14="http://schemas.microsoft.com/office/powerpoint/2010/main" val="42107722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Quotable</Template>
  <TotalTime>48</TotalTime>
  <Words>924</Words>
  <Application>Microsoft Office PowerPoint</Application>
  <PresentationFormat>Widescreen</PresentationFormat>
  <Paragraphs>83</Paragraphs>
  <Slides>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Century Gothic</vt:lpstr>
      <vt:lpstr>Wingdings 2</vt:lpstr>
      <vt:lpstr>Quotable</vt:lpstr>
      <vt:lpstr>AI vs Threats: Defending the Digital Frontier</vt:lpstr>
      <vt:lpstr>Cybersecurity Reimagined with AI</vt:lpstr>
      <vt:lpstr>Advanced Use Case: AI Anomaly Detection Systems</vt:lpstr>
      <vt:lpstr>Leaders in AI Cyber Defense</vt:lpstr>
      <vt:lpstr>Measuring Cyber Defense Effectiveness</vt:lpstr>
      <vt:lpstr>The Future: AI vs AI Cyber Warfare</vt:lpstr>
      <vt:lpstr>Final Takeaways</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vs Threats: Defending the Digital Frontier</dc:title>
  <dc:creator>bob lynn</dc:creator>
  <cp:lastModifiedBy>bob lynn</cp:lastModifiedBy>
  <cp:revision>6</cp:revision>
  <dcterms:created xsi:type="dcterms:W3CDTF">2026-04-21T19:39:01Z</dcterms:created>
  <dcterms:modified xsi:type="dcterms:W3CDTF">2026-06-19T16:48:57Z</dcterms:modified>
</cp:coreProperties>
</file>